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fntdata" ContentType="application/x-fontdata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officeDocument/2006/relationships/extended-properties" Target="docProps/app.xml"/><Relationship Id="rId3" Type="http://schemas.openxmlformats.org/package/2006/relationships/metadata/core-properties" Target="docProps/core.xml"/><Relationship Id="rId4" Type="http://schemas.openxmlformats.org/officeDocument/2006/relationships/custom-properties" Target="docProps/custom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 autoCompressPictures="0" embedTrueTypeFonts="1" saveSubsetFonts="1">
  <p:sldMasterIdLst>
    <p:sldMasterId id="2147483648" r:id="rId1"/>
  </p:sldMasterIdLst>
  <p:notesMasterIdLst>
    <p:notesMasterId r:id="rId2"/>
  </p:notesMasterIdLst>
  <p:sldIdLst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8" r:id="rId13"/>
  </p:sldIdLst>
  <p:sldSz cy="8229600" cx="14630400"/>
  <p:notesSz cx="8229600" cy="14630400"/>
  <p:embeddedFontLst>
    <p:embeddedFont>
      <p:font typeface="Alexandria Semi Bold" panose="020B0604020202020204" charset="-78"/>
      <p:regular r:id="rId14"/>
    </p:embeddedFont>
    <p:embeddedFont>
      <p:font typeface="Calibri" panose="020F0502020204030204" pitchFamily="34" charset="0"/>
      <p:regular r:id="rId15"/>
      <p:bold r:id="rId16"/>
      <p:italic r:id="rId17"/>
      <p:boldItalic r:id="rId18"/>
    </p:embeddedFont>
    <p:embeddedFont>
      <p:font typeface="Consolas" panose="020B0609020204030204" pitchFamily="49" charset="0"/>
      <p:regular r:id="rId19"/>
      <p:bold r:id="rId20"/>
      <p:italic r:id="rId21"/>
      <p:boldItalic r:id="rId22"/>
    </p:embeddedFont>
    <p:embeddedFont>
      <p:font typeface="Heebo Light" pitchFamily="2" charset="-79"/>
      <p:regular r:id="rId23"/>
    </p:embeddedFont>
    <p:embeddedFont>
      <p:font typeface="Sora Light" panose="020B0604020202020204" charset="0"/>
      <p:regular r:id="rId24"/>
    </p:embeddedFont>
  </p:embeddedFontLst>
  <p:defaultTextStyle>
    <a:defPPr>
      <a:defRPr lang="en-US"/>
    </a:defPPr>
    <a:lvl1pPr algn="l" defTabSz="914400" eaLnBrk="1" hangingPunct="1" latinLnBrk="0" marL="0" rtl="0">
      <a:defRPr sz="18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8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8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8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8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8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8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8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>
    <p:present/>
    <p:sldAll/>
    <p:penClr>
      <a:prstClr val="red"/>
    </p:penClr>
  </p:showPr>
  <p:clrMru>
    <a:srgbClr val="FF3399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59" d="100"/>
          <a:sy n="59" d="100"/>
        </p:scale>
        <p:origin x="708" y="84"/>
      </p:cViewPr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slide" Target="slides/slide9.xml"/><Relationship Id="rId12" Type="http://schemas.openxmlformats.org/officeDocument/2006/relationships/slide" Target="slides/slide10.xml"/><Relationship Id="rId13" Type="http://schemas.openxmlformats.org/officeDocument/2006/relationships/slide" Target="slides/slide11.xml"/><Relationship Id="rId14" Type="http://schemas.openxmlformats.org/officeDocument/2006/relationships/font" Target="fonts/font1.fntdata"/><Relationship Id="rId15" Type="http://schemas.openxmlformats.org/officeDocument/2006/relationships/font" Target="fonts/font2.fntdata"/><Relationship Id="rId16" Type="http://schemas.openxmlformats.org/officeDocument/2006/relationships/font" Target="fonts/font3.fntdata"/><Relationship Id="rId17" Type="http://schemas.openxmlformats.org/officeDocument/2006/relationships/font" Target="fonts/font4.fntdata"/><Relationship Id="rId18" Type="http://schemas.openxmlformats.org/officeDocument/2006/relationships/font" Target="fonts/font5.fntdata"/><Relationship Id="rId19" Type="http://schemas.openxmlformats.org/officeDocument/2006/relationships/font" Target="fonts/font6.fntdata"/><Relationship Id="rId20" Type="http://schemas.openxmlformats.org/officeDocument/2006/relationships/font" Target="fonts/font7.fntdata"/><Relationship Id="rId21" Type="http://schemas.openxmlformats.org/officeDocument/2006/relationships/font" Target="fonts/font8.fntdata"/><Relationship Id="rId22" Type="http://schemas.openxmlformats.org/officeDocument/2006/relationships/font" Target="fonts/font9.fntdata"/><Relationship Id="rId23" Type="http://schemas.openxmlformats.org/officeDocument/2006/relationships/font" Target="fonts/font10.fntdata"/><Relationship Id="rId24" Type="http://schemas.openxmlformats.org/officeDocument/2006/relationships/font" Target="fonts/font11.fntdata"/><Relationship Id="rId25" Type="http://schemas.openxmlformats.org/officeDocument/2006/relationships/tableStyles" Target="tableStyles.xml"/><Relationship Id="rId26" Type="http://schemas.openxmlformats.org/officeDocument/2006/relationships/presProps" Target="presProps.xml"/><Relationship Id="rId27" Type="http://schemas.openxmlformats.org/officeDocument/2006/relationships/viewProps" Target="viewProps.xml"/><Relationship Id="rId28" Type="http://schemas.openxmlformats.org/officeDocument/2006/relationships/theme" Target="theme/theme1.xml"/></Relationships>
</file>

<file path=ppt/notesMasters/_rels/notesMaster1.xml.rels><?xml version="1.0" encoding="UTF-8" standalone="yes"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7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notesStyle>
    <a:lvl1pPr algn="l" defTabSz="914400" eaLnBrk="1" hangingPunct="1" latinLnBrk="0" marL="0" rtl="0">
      <a:defRPr sz="1200" kern="12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sz="1200" kern="12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sz="1200" kern="12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sz="1200" kern="12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sz="1200" kern="12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sz="1200" kern="12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sz="1200" kern="12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sz="1200" kern="12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"1.0" encoding="UTF-8" standalone="yes"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"1.0" encoding="UTF-8" standalone="yes"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"1.0" encoding="UTF-8" standalone="yes"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5.xml.rels><?xml version="1.0" encoding="UTF-8" standalone="yes"?>
<Relationships xmlns="http://schemas.openxmlformats.org/package/2006/relationships"><Relationship Id="rId1" Type="http://schemas.openxmlformats.org/officeDocument/2006/relationships/slide" Target="../slides/slide5.xml"/><Relationship Id="rId2" Type="http://schemas.openxmlformats.org/officeDocument/2006/relationships/notesMaster" Target="../notesMasters/notesMaster1.xml"/></Relationships>
</file>

<file path=ppt/notesSlides/_rels/notesSlide6.xml.rels><?xml version="1.0" encoding="UTF-8" standalone="yes"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"1.0" encoding="UTF-8" standalone="yes"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"1.0" encoding="UTF-8" standalone="yes"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"1.0" encoding="UTF-8" standalone="yes"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0.xml.rels><?xml version="1.0" encoding="UTF-8" standalone="yes"?>
<Relationships xmlns="http://schemas.openxmlformats.org/package/2006/relationships"><Relationship Id="rId1" Type="http://schemas.openxmlformats.org/officeDocument/2006/relationships/slide" Target="../slides/slide10.xml"/><Relationship Id="rId2" Type="http://schemas.openxmlformats.org/officeDocument/2006/relationships/notesMaster" Target="../notesMasters/notesMaster1.xml"/></Relationships>
</file>

<file path=ppt/notesSlides/_rels/notesSlide11.xml.rels><?xml version="1.0" encoding="UTF-8" standalone="yes"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2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8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8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2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59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59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3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0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This C program is a simple parking lot management system.
It allows users to add, remove, and check the status of vehicles in the parking lot.
The program uses a fixed-size array to represent the parking spaces, and a queue-like data structure to manage the vehicles.
Key functions include addVehicle(), removeVehicle(), checkSpace(), and displayVehicles().
The main() function provides a menu-driven interface for the user to interact with the parking lot management system.
This slide provides the complete C code for the parking lot management program.
</a:t>
            </a:r>
          </a:p>
        </p:txBody>
      </p:sp>
      <p:sp>
        <p:nvSpPr>
          <p:cNvPr id="104860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1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1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2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4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35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r>
              <a:rPr dirty="0" lang="en-US"/>
              <a:t>This slide contains the C code for a Parking Lot Management program
The program allows users to perform various operations on a parking lot, such as adding vehicles, removing vehicles, checking available space, and displaying parked vehicles
The program uses a queue data structure to manage the vehicles in the parking lot
The key functions include:
isFull() and isEmpty() to check the status of the parking lot
addVehicle() to add a new vehicle to the parking lot
removeVehicle() to remove a vehicle from the parking lot
checkSpace() to check the available space in the parking lot
displayVehicles() to display the vehicles currently parked in the lot
The menu() function provides a user interface for interacting with the program
The main() function handles the user input and calls the appropriate functions based on the user's choice
</a:t>
            </a:r>
          </a:p>
        </p:txBody>
      </p:sp>
      <p:sp>
        <p:nvSpPr>
          <p:cNvPr id="1048636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4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49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50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51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3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64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65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5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78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79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80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97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698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699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1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12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13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6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26" name="Slide Image Placeholder 1"/>
          <p:cNvSpPr>
            <a:spLocks noChangeAspect="1" noRot="1" noGrp="1"/>
          </p:cNvSpPr>
          <p:nvPr>
            <p:ph type="sldImg"/>
          </p:nvPr>
        </p:nvSpPr>
        <p:spPr/>
      </p:sp>
      <p:sp>
        <p:nvSpPr>
          <p:cNvPr id="1048727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p>
            <a:endParaRPr dirty="0" lang="en-US"/>
          </a:p>
        </p:txBody>
      </p:sp>
      <p:sp>
        <p:nvSpPr>
          <p:cNvPr id="1048728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Master" Target="../slideMasters/slideMaster1.xml"/></Relationships>
</file>

<file path=ppt/slideLayouts/_rels/slideLayout12.xml.rels><?xml version="1.0" encoding="UTF-8" standalone="yes"?>
<Relationships xmlns="http://schemas.openxmlformats.org/package/2006/relationships"><Relationship Id="rId1" Type="http://schemas.openxmlformats.org/officeDocument/2006/relationships/hyperlink" Target="https://gamma.app/?utm_source=made-with-gamma" TargetMode="External"/><Relationship Id="rId2" Type="http://schemas.openxmlformats.org/officeDocument/2006/relationships/image" Target="../media/image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7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2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Shape 0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E7EEF9"/>
          </a:solidFill>
        </p:spPr>
      </p:sp>
      <p:sp>
        <p:nvSpPr>
          <p:cNvPr id="1048577" name="Shape 1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FFAFA"/>
          </a:solidFill>
        </p:spPr>
      </p:sp>
      <p:pic>
        <p:nvPicPr>
          <p:cNvPr id="2097152" name="Image 0" descr="preencoded.png">
            <a:hlinkClick r:id="rId1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/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3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7" name="Shape 0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E7EEF9"/>
          </a:solidFill>
        </p:spPr>
      </p:sp>
      <p:sp>
        <p:nvSpPr>
          <p:cNvPr id="1048588" name="Shape 1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FFAFA"/>
          </a:solidFill>
        </p:spPr>
      </p:sp>
      <p:pic>
        <p:nvPicPr>
          <p:cNvPr id="2097154" name="Image 0" descr="preencoded.png">
            <a:hlinkClick r:id="rId1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/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3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Shape 0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E7EEF9"/>
          </a:solidFill>
        </p:spPr>
      </p:sp>
      <p:sp>
        <p:nvSpPr>
          <p:cNvPr id="1048596" name="Shape 1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FFAFA"/>
          </a:solidFill>
        </p:spPr>
      </p:sp>
      <p:pic>
        <p:nvPicPr>
          <p:cNvPr id="2097156" name="Image 0" descr="preencoded.png">
            <a:hlinkClick r:id="rId1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/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3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06" name="Shape 0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E7EEF9"/>
          </a:solidFill>
        </p:spPr>
      </p:sp>
      <p:sp>
        <p:nvSpPr>
          <p:cNvPr id="1048607" name="Shape 1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FFAFA"/>
          </a:solidFill>
        </p:spPr>
      </p:sp>
      <p:pic>
        <p:nvPicPr>
          <p:cNvPr id="2097157" name="Image 0" descr="preencoded.png">
            <a:hlinkClick r:id="rId1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/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4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1" name="Shape 0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E7EEF9"/>
          </a:solidFill>
        </p:spPr>
      </p:sp>
      <p:sp>
        <p:nvSpPr>
          <p:cNvPr id="1048622" name="Shape 1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FFAFA"/>
          </a:solidFill>
        </p:spPr>
      </p:sp>
      <p:pic>
        <p:nvPicPr>
          <p:cNvPr id="2097159" name="Image 0" descr="preencoded.png">
            <a:hlinkClick r:id="rId1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/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4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37" name="Shape 0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E7EEF9"/>
          </a:solidFill>
        </p:spPr>
      </p:sp>
      <p:sp>
        <p:nvSpPr>
          <p:cNvPr id="1048638" name="Shape 1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FFAFA"/>
          </a:solidFill>
        </p:spPr>
      </p:sp>
      <p:pic>
        <p:nvPicPr>
          <p:cNvPr id="2097160" name="Image 0" descr="preencoded.png">
            <a:hlinkClick r:id="rId1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/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50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52" name="Shape 0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E7EEF9"/>
          </a:solidFill>
        </p:spPr>
      </p:sp>
      <p:sp>
        <p:nvSpPr>
          <p:cNvPr id="1048653" name="Shape 1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FFAFA"/>
          </a:solidFill>
        </p:spPr>
      </p:sp>
      <p:pic>
        <p:nvPicPr>
          <p:cNvPr id="2097162" name="Image 0" descr="preencoded.png">
            <a:hlinkClick r:id="rId1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/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54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66" name="Shape 0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E7EEF9"/>
          </a:solidFill>
        </p:spPr>
      </p:sp>
      <p:sp>
        <p:nvSpPr>
          <p:cNvPr id="1048667" name="Shape 1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FFAFA"/>
          </a:solidFill>
        </p:spPr>
      </p:sp>
      <p:pic>
        <p:nvPicPr>
          <p:cNvPr id="2097168" name="Image 0" descr="preencoded.png">
            <a:hlinkClick r:id="rId1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/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58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81" name="Shape 0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E7EEF9"/>
          </a:solidFill>
        </p:spPr>
      </p:sp>
      <p:sp>
        <p:nvSpPr>
          <p:cNvPr id="1048682" name="Shape 1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FFAFA"/>
          </a:solidFill>
        </p:spPr>
      </p:sp>
      <p:pic>
        <p:nvPicPr>
          <p:cNvPr id="2097170" name="Image 0" descr="preencoded.png">
            <a:hlinkClick r:id="rId1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/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6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00" name="Shape 0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E7EEF9"/>
          </a:solidFill>
        </p:spPr>
      </p:sp>
      <p:sp>
        <p:nvSpPr>
          <p:cNvPr id="1048701" name="Shape 1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FFAFA"/>
          </a:solidFill>
        </p:spPr>
      </p:sp>
      <p:pic>
        <p:nvPicPr>
          <p:cNvPr id="2097172" name="Image 0" descr="preencoded.png">
            <a:hlinkClick r:id="rId1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/>
        </p:spPr>
      </p:pic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1 master">
    <p:spTree>
      <p:nvGrpSpPr>
        <p:cNvPr id="6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714" name="Shape 0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E7EEF9"/>
          </a:solidFill>
        </p:spPr>
      </p:sp>
      <p:sp>
        <p:nvSpPr>
          <p:cNvPr id="1048715" name="Shape 1"/>
          <p:cNvSpPr/>
          <p:nvPr/>
        </p:nvSpPr>
        <p:spPr>
          <a:xfrm>
            <a:off x="0" y="0"/>
            <a:ext cx="14630400" cy="8229600"/>
          </a:xfrm>
          <a:prstGeom prst="rect"/>
          <a:solidFill>
            <a:srgbClr val="FFFAFA"/>
          </a:solidFill>
        </p:spPr>
      </p:sp>
      <p:pic>
        <p:nvPicPr>
          <p:cNvPr id="2097178" name="Image 0" descr="preencoded.png">
            <a:hlinkClick r:id="rId1"/>
          </p:cNvPr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12839215" y="7749540"/>
            <a:ext cx="1722605" cy="411480"/>
          </a:xfrm>
          <a:prstGeom prst="rect"/>
        </p:spPr>
      </p:pic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2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accent1="accent1" accent2="accent2" accent3="accent3" accent4="accent4" accent5="accent5" accent6="accent6" bg1="lt1" bg2="lt2" tx1="dk1" tx2="dk2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dt="0" ftr="0" hdr="0" sldNum="0"/>
  <p:txStyles>
    <p:titleStyle>
      <a:lvl1pPr algn="ctr" defTabSz="914400" eaLnBrk="1" hangingPunct="1" latinLnBrk="0" rtl="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914400" eaLnBrk="1" hangingPunct="1" indent="-342900" latinLnBrk="0" marL="342900" rtl="0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indent="-285750" latinLnBrk="0" marL="742950" rtl="0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indent="-228600" latinLnBrk="0" marL="1143000" rtl="0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indent="-228600" latinLnBrk="0" marL="1600200" rtl="0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indent="-228600" latinLnBrk="0" marL="2057400" rtl="0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indent="-228600" latinLnBrk="0" marL="25146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indent="-228600" latinLnBrk="0" marL="29718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indent="-228600" latinLnBrk="0" marL="34290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indent="-228600" latinLnBrk="0" marL="3886200" rtl="0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914400" eaLnBrk="1" hangingPunct="1" latinLnBrk="0" marL="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algn="l" defTabSz="914400" eaLnBrk="1" hangingPunct="1" latinLnBrk="0" marL="457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algn="l" defTabSz="914400" eaLnBrk="1" hangingPunct="1" latinLnBrk="0" marL="914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algn="l" defTabSz="914400" eaLnBrk="1" hangingPunct="1" latinLnBrk="0" marL="1371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algn="l" defTabSz="914400" eaLnBrk="1" hangingPunct="1" latinLnBrk="0" marL="18288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algn="l" defTabSz="914400" eaLnBrk="1" hangingPunct="1" latinLnBrk="0" marL="22860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algn="l" defTabSz="914400" eaLnBrk="1" hangingPunct="1" latinLnBrk="0" marL="27432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algn="l" defTabSz="914400" eaLnBrk="1" hangingPunct="1" latinLnBrk="0" marL="32004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algn="l" defTabSz="914400" eaLnBrk="1" hangingPunct="1" latinLnBrk="0" marL="3657600" rtl="0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image" Target="../media/image3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5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7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image" Target="../media/image7.png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slideLayout" Target="../slideLayouts/slideLayout8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image" Target="../media/image11.png"/><Relationship Id="rId2" Type="http://schemas.openxmlformats.org/officeDocument/2006/relationships/slideLayout" Target="../slideLayouts/slideLayout9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image" Target="../media/image12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
<Relationships xmlns="http://schemas.openxmlformats.org/package/2006/relationships"><Relationship Id="rId1" Type="http://schemas.openxmlformats.org/officeDocument/2006/relationships/image" Target="../media/image13.png"/><Relationship Id="rId2" Type="http://schemas.openxmlformats.org/officeDocument/2006/relationships/image" Target="../media/image14.png"/><Relationship Id="rId3" Type="http://schemas.openxmlformats.org/officeDocument/2006/relationships/image" Target="../media/image15.png"/><Relationship Id="rId4" Type="http://schemas.openxmlformats.org/officeDocument/2006/relationships/image" Target="../media/image16.png"/><Relationship Id="rId5" Type="http://schemas.openxmlformats.org/officeDocument/2006/relationships/image" Target="../media/image17.png"/><Relationship Id="rId6" Type="http://schemas.openxmlformats.org/officeDocument/2006/relationships/slideLayout" Target="../slideLayouts/slideLayout1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slideLayout" Target="../slideLayouts/slideLayout12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26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8" name="Text 0"/>
          <p:cNvSpPr/>
          <p:nvPr/>
        </p:nvSpPr>
        <p:spPr>
          <a:xfrm>
            <a:off x="1378794" y="3470375"/>
            <a:ext cx="10834977" cy="712708"/>
          </a:xfrm>
          <a:prstGeom prst="rect"/>
          <a:noFill/>
        </p:spPr>
        <p:txBody>
          <a:bodyPr anchor="t" bIns="0" lIns="0" rIns="0" rtlCol="0" tIns="0" wrap="none"/>
          <a:p>
            <a:pPr algn="just" indent="0" marL="0">
              <a:lnSpc>
                <a:spcPts val="5600"/>
              </a:lnSpc>
              <a:buNone/>
            </a:pPr>
            <a:r>
              <a:rPr dirty="0" sz="4450" lang="en-US"/>
              <a:t>N.B.K.R INSTITUTE OF SCIENCE &amp; TECHNOLOGY</a:t>
            </a:r>
          </a:p>
          <a:p>
            <a:pPr algn="just" indent="0" marL="0">
              <a:lnSpc>
                <a:spcPts val="5600"/>
              </a:lnSpc>
              <a:buNone/>
            </a:pPr>
            <a:r>
              <a:rPr dirty="0" sz="2400" lang="en-US" u="sng">
                <a:solidFill>
                  <a:schemeClr val="accent1">
                    <a:lumMod val="50000"/>
                  </a:schemeClr>
                </a:solidFill>
              </a:rPr>
              <a:t>PARKING LOT MANAGEMENT</a:t>
            </a:r>
          </a:p>
        </p:txBody>
      </p:sp>
      <p:pic>
        <p:nvPicPr>
          <p:cNvPr id="2097153" name="Image 0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5953244" y="543164"/>
            <a:ext cx="2723793" cy="2661880"/>
          </a:xfrm>
          <a:prstGeom prst="rect"/>
        </p:spPr>
      </p:pic>
      <p:sp>
        <p:nvSpPr>
          <p:cNvPr id="1048579" name="Text 2"/>
          <p:cNvSpPr/>
          <p:nvPr/>
        </p:nvSpPr>
        <p:spPr>
          <a:xfrm>
            <a:off x="693301" y="5210652"/>
            <a:ext cx="13243798" cy="316944"/>
          </a:xfrm>
          <a:prstGeom prst="rect"/>
          <a:noFill/>
        </p:spPr>
        <p:txBody>
          <a:bodyPr anchor="t" bIns="0" lIns="0" rIns="0" rtlCol="0" tIns="0" wrap="none"/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indent="0" marL="0">
              <a:lnSpc>
                <a:spcPts val="2450"/>
              </a:lnSpc>
              <a:buNone/>
            </a:pPr>
            <a:r>
              <a:rPr dirty="0" sz="1550" lang="en-US">
                <a:solidFill>
                  <a:schemeClr val="accent5">
                    <a:lumMod val="50000"/>
                  </a:schemeClr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Presented by: </a:t>
            </a:r>
            <a:r>
              <a:rPr dirty="0" sz="1550" lang="en-US">
                <a:solidFill>
                  <a:srgbClr val="DCD7E5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,</a:t>
            </a:r>
            <a:endParaRPr dirty="0" sz="1550" lang="en-US"/>
          </a:p>
        </p:txBody>
      </p:sp>
      <p:sp>
        <p:nvSpPr>
          <p:cNvPr id="1048580" name="Text 3"/>
          <p:cNvSpPr/>
          <p:nvPr/>
        </p:nvSpPr>
        <p:spPr>
          <a:xfrm>
            <a:off x="693301" y="5779892"/>
            <a:ext cx="13374486" cy="316944"/>
          </a:xfrm>
          <a:prstGeom prst="rect"/>
          <a:noFill/>
        </p:spPr>
        <p:txBody>
          <a:bodyPr anchor="t" bIns="0" lIns="0" rIns="0" rtlCol="0" tIns="0" wrap="none"/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indent="0" marL="0">
              <a:lnSpc>
                <a:spcPts val="2450"/>
              </a:lnSpc>
              <a:buNone/>
            </a:pPr>
            <a:r>
              <a:rPr dirty="0" sz="1550" lang="en-US">
                <a:solidFill>
                  <a:srgbClr val="FF3399"/>
                </a:solidFill>
                <a:latin typeface="Heebo Light" pitchFamily="34" charset="0"/>
                <a:cs typeface="Heebo Light" pitchFamily="34" charset="-120"/>
              </a:rPr>
              <a:t>LOKESH              24KBIA0507</a:t>
            </a:r>
            <a:endParaRPr dirty="0" sz="1550" lang="en-US">
              <a:solidFill>
                <a:srgbClr val="FF3399"/>
              </a:solidFill>
            </a:endParaRPr>
          </a:p>
        </p:txBody>
      </p:sp>
      <p:sp>
        <p:nvSpPr>
          <p:cNvPr id="1048581" name="Text 4"/>
          <p:cNvSpPr/>
          <p:nvPr/>
        </p:nvSpPr>
        <p:spPr>
          <a:xfrm>
            <a:off x="693241" y="6192808"/>
            <a:ext cx="13243798" cy="316944"/>
          </a:xfrm>
          <a:prstGeom prst="rect"/>
          <a:noFill/>
        </p:spPr>
        <p:txBody>
          <a:bodyPr anchor="t" bIns="0" lIns="0" rIns="0" rtlCol="0" tIns="0" wrap="none"/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indent="0" marL="0">
              <a:lnSpc>
                <a:spcPts val="2450"/>
              </a:lnSpc>
              <a:buNone/>
            </a:pPr>
            <a:r>
              <a:rPr dirty="0" sz="1550" lang="en-US">
                <a:solidFill>
                  <a:srgbClr val="0070C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VASU                   24KB1A0520</a:t>
            </a:r>
            <a:endParaRPr dirty="0" sz="1550" lang="en-US">
              <a:solidFill>
                <a:srgbClr val="0070C0"/>
              </a:solidFill>
            </a:endParaRPr>
          </a:p>
        </p:txBody>
      </p:sp>
      <p:sp>
        <p:nvSpPr>
          <p:cNvPr id="1048582" name="Text 5"/>
          <p:cNvSpPr/>
          <p:nvPr/>
        </p:nvSpPr>
        <p:spPr>
          <a:xfrm>
            <a:off x="693241" y="6543015"/>
            <a:ext cx="13243798" cy="316944"/>
          </a:xfrm>
          <a:prstGeom prst="rect"/>
          <a:noFill/>
        </p:spPr>
        <p:txBody>
          <a:bodyPr anchor="t" bIns="0" lIns="0" rIns="0" rtlCol="0" tIns="0" wrap="none"/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indent="0" marL="0">
              <a:lnSpc>
                <a:spcPts val="2450"/>
              </a:lnSpc>
              <a:buNone/>
            </a:pPr>
            <a:r>
              <a:rPr dirty="0" sz="1550" lang="en-US">
                <a:solidFill>
                  <a:srgbClr val="7030A0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KULA DEEPAK    24KB1A0514</a:t>
            </a:r>
            <a:endParaRPr dirty="0" sz="1550" lang="en-US">
              <a:solidFill>
                <a:srgbClr val="7030A0"/>
              </a:solidFill>
            </a:endParaRPr>
          </a:p>
        </p:txBody>
      </p:sp>
      <p:sp>
        <p:nvSpPr>
          <p:cNvPr id="1048583" name="Text 6"/>
          <p:cNvSpPr/>
          <p:nvPr/>
        </p:nvSpPr>
        <p:spPr>
          <a:xfrm>
            <a:off x="693241" y="6893222"/>
            <a:ext cx="13243798" cy="316944"/>
          </a:xfrm>
          <a:prstGeom prst="rect"/>
          <a:noFill/>
        </p:spPr>
        <p:txBody>
          <a:bodyPr anchor="t" bIns="0" lIns="0" rIns="0" rtlCol="0" tIns="0" wrap="none"/>
          <a:lstStyle>
            <a:defPPr>
              <a:defRPr lang="en-US"/>
            </a:defPPr>
            <a:lvl1pPr algn="l" defTabSz="914400" eaLnBrk="1" hangingPunct="1" latinLnBrk="0" marL="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algn="l" defTabSz="914400" eaLnBrk="1" hangingPunct="1" latinLnBrk="0" marL="457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algn="l" defTabSz="914400" eaLnBrk="1" hangingPunct="1" latinLnBrk="0" marL="914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algn="l" defTabSz="914400" eaLnBrk="1" hangingPunct="1" latinLnBrk="0" marL="1371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algn="l" defTabSz="914400" eaLnBrk="1" hangingPunct="1" latinLnBrk="0" marL="18288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algn="l" defTabSz="914400" eaLnBrk="1" hangingPunct="1" latinLnBrk="0" marL="22860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algn="l" defTabSz="914400" eaLnBrk="1" hangingPunct="1" latinLnBrk="0" marL="27432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algn="l" defTabSz="914400" eaLnBrk="1" hangingPunct="1" latinLnBrk="0" marL="32004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algn="l" defTabSz="914400" eaLnBrk="1" hangingPunct="1" latinLnBrk="0" marL="3657600" rtl="0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 indent="0" marL="0">
              <a:lnSpc>
                <a:spcPts val="2450"/>
              </a:lnSpc>
              <a:buNone/>
            </a:pPr>
            <a:r>
              <a:rPr dirty="0" sz="1550" lang="en-US">
                <a:solidFill>
                  <a:schemeClr val="accent4"/>
                </a:solidFill>
                <a:latin typeface="Heebo Light" pitchFamily="34" charset="0"/>
                <a:ea typeface="Heebo Light" pitchFamily="34" charset="-122"/>
                <a:cs typeface="Heebo Light" pitchFamily="34" charset="-120"/>
              </a:rPr>
              <a:t>ANIL                      24KB1AO568</a:t>
            </a:r>
            <a:endParaRPr dirty="0" sz="1550" lang="en-US">
              <a:solidFill>
                <a:schemeClr val="accent4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3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/>
        </p:spPr>
      </p:pic>
      <p:sp>
        <p:nvSpPr>
          <p:cNvPr id="1048589" name="Text 0"/>
          <p:cNvSpPr/>
          <p:nvPr/>
        </p:nvSpPr>
        <p:spPr>
          <a:xfrm>
            <a:off x="758309" y="2597706"/>
            <a:ext cx="7627382" cy="142541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5600"/>
              </a:lnSpc>
              <a:buNone/>
            </a:pPr>
            <a:r>
              <a:rPr dirty="0" sz="4450" lang="en-US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Parking Lot Management in C</a:t>
            </a:r>
            <a:endParaRPr dirty="0" sz="4450" lang="en-US"/>
          </a:p>
        </p:txBody>
      </p:sp>
      <p:sp>
        <p:nvSpPr>
          <p:cNvPr id="1048590" name="Text 1"/>
          <p:cNvSpPr/>
          <p:nvPr/>
        </p:nvSpPr>
        <p:spPr>
          <a:xfrm>
            <a:off x="758309" y="4348043"/>
            <a:ext cx="7627382" cy="34671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presentation explains a C program for managing a parking lot.</a:t>
            </a:r>
            <a:endParaRPr dirty="0" sz="1700" lang="en-US"/>
          </a:p>
        </p:txBody>
      </p:sp>
      <p:sp>
        <p:nvSpPr>
          <p:cNvPr id="1048591" name="Text 2"/>
          <p:cNvSpPr/>
          <p:nvPr/>
        </p:nvSpPr>
        <p:spPr>
          <a:xfrm>
            <a:off x="758309" y="4938474"/>
            <a:ext cx="7627382" cy="6934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Learn how vehicles are added, removed, and monitored in a parking queue system.</a:t>
            </a:r>
            <a:endParaRPr dirty="0" sz="1700"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3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7" name="Text 0"/>
          <p:cNvSpPr/>
          <p:nvPr/>
        </p:nvSpPr>
        <p:spPr>
          <a:xfrm>
            <a:off x="758309" y="2237014"/>
            <a:ext cx="13113782" cy="851944"/>
          </a:xfrm>
          <a:prstGeom prst="rect"/>
          <a:noFill/>
        </p:spPr>
        <p:txBody>
          <a:bodyPr anchor="t" bIns="0" lIns="0" rIns="0" rtlCol="0" tIns="0" wrap="none"/>
          <a:p>
            <a:pPr algn="l" indent="-342900" marL="342900">
              <a:lnSpc>
                <a:spcPts val="2700"/>
              </a:lnSpc>
              <a:buSzPct val="100000"/>
              <a:buChar char="•"/>
            </a:pPr>
            <a:r>
              <a:rPr b="1" dirty="0" sz="1700" lang="en-US">
                <a:solidFill>
                  <a:srgbClr val="C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INTRODUTION:</a:t>
            </a:r>
          </a:p>
          <a:p>
            <a:pPr algn="l" indent="-342900" marL="342900">
              <a:lnSpc>
                <a:spcPts val="2700"/>
              </a:lnSpc>
              <a:buSzPct val="100000"/>
              <a:buChar char="•"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C program is a simple parking lot management system.</a:t>
            </a:r>
            <a:endParaRPr dirty="0" sz="1700" lang="en-US"/>
          </a:p>
        </p:txBody>
      </p:sp>
      <p:sp>
        <p:nvSpPr>
          <p:cNvPr id="1048598" name="Text 1"/>
          <p:cNvSpPr/>
          <p:nvPr/>
        </p:nvSpPr>
        <p:spPr>
          <a:xfrm>
            <a:off x="758309" y="3164681"/>
            <a:ext cx="13113782" cy="346710"/>
          </a:xfrm>
          <a:prstGeom prst="rect"/>
          <a:noFill/>
        </p:spPr>
        <p:txBody>
          <a:bodyPr anchor="t" bIns="0" lIns="0" rIns="0" rtlCol="0" tIns="0" wrap="none"/>
          <a:p>
            <a:pPr algn="l" indent="-342900" marL="342900">
              <a:lnSpc>
                <a:spcPts val="2700"/>
              </a:lnSpc>
              <a:buSzPct val="100000"/>
              <a:buChar char="•"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It allows users to add, remove, and check the status of vehicles in the parking lot.</a:t>
            </a:r>
            <a:endParaRPr dirty="0" sz="1700" lang="en-US"/>
          </a:p>
        </p:txBody>
      </p:sp>
      <p:sp>
        <p:nvSpPr>
          <p:cNvPr id="1048599" name="Text 2"/>
          <p:cNvSpPr/>
          <p:nvPr/>
        </p:nvSpPr>
        <p:spPr>
          <a:xfrm>
            <a:off x="758309" y="3587115"/>
            <a:ext cx="13113782" cy="693420"/>
          </a:xfrm>
          <a:prstGeom prst="rect"/>
          <a:noFill/>
        </p:spPr>
        <p:txBody>
          <a:bodyPr anchor="t" bIns="0" lIns="0" rIns="0" rtlCol="0" tIns="0" wrap="square"/>
          <a:p>
            <a:pPr algn="l" indent="-342900" marL="342900">
              <a:lnSpc>
                <a:spcPts val="2700"/>
              </a:lnSpc>
              <a:buSzPct val="100000"/>
              <a:buChar char="•"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program uses a fixed-size array to represent the parking spaces, and a queue-like data structure to manage the vehicles.</a:t>
            </a:r>
            <a:endParaRPr dirty="0" sz="1700" lang="en-US"/>
          </a:p>
        </p:txBody>
      </p:sp>
      <p:sp>
        <p:nvSpPr>
          <p:cNvPr id="1048600" name="Text 3"/>
          <p:cNvSpPr/>
          <p:nvPr/>
        </p:nvSpPr>
        <p:spPr>
          <a:xfrm>
            <a:off x="758309" y="4356259"/>
            <a:ext cx="13113782" cy="354330"/>
          </a:xfrm>
          <a:prstGeom prst="rect"/>
          <a:noFill/>
        </p:spPr>
        <p:txBody>
          <a:bodyPr anchor="t" bIns="0" lIns="0" rIns="0" rtlCol="0" tIns="0" wrap="none"/>
          <a:p>
            <a:pPr algn="l" indent="-342900" marL="342900">
              <a:lnSpc>
                <a:spcPts val="2700"/>
              </a:lnSpc>
              <a:buSzPct val="100000"/>
              <a:buChar char="•"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Key functions include </a:t>
            </a:r>
            <a:r>
              <a:rPr dirty="0" sz="1700" lang="en-US">
                <a:solidFill>
                  <a:srgbClr val="3B3535"/>
                </a:solidFill>
                <a:highlight>
                  <a:srgbClr val="D5DC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addVehicle()</a:t>
            </a: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</a:t>
            </a:r>
            <a:r>
              <a:rPr dirty="0" sz="1700" lang="en-US">
                <a:solidFill>
                  <a:srgbClr val="3B3535"/>
                </a:solidFill>
                <a:highlight>
                  <a:srgbClr val="D5DC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removeVehicle()</a:t>
            </a: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</a:t>
            </a:r>
            <a:r>
              <a:rPr dirty="0" sz="1700" lang="en-US">
                <a:solidFill>
                  <a:srgbClr val="3B3535"/>
                </a:solidFill>
                <a:highlight>
                  <a:srgbClr val="D5DC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checkSpace()</a:t>
            </a: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, and </a:t>
            </a:r>
            <a:r>
              <a:rPr dirty="0" sz="1700" lang="en-US">
                <a:solidFill>
                  <a:srgbClr val="3B3535"/>
                </a:solidFill>
                <a:highlight>
                  <a:srgbClr val="D5DC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displayVehicles()</a:t>
            </a: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.</a:t>
            </a:r>
            <a:endParaRPr dirty="0" sz="1700" lang="en-US"/>
          </a:p>
        </p:txBody>
      </p:sp>
      <p:sp>
        <p:nvSpPr>
          <p:cNvPr id="1048601" name="Text 4"/>
          <p:cNvSpPr/>
          <p:nvPr/>
        </p:nvSpPr>
        <p:spPr>
          <a:xfrm>
            <a:off x="758309" y="4786313"/>
            <a:ext cx="13113782" cy="354330"/>
          </a:xfrm>
          <a:prstGeom prst="rect"/>
          <a:noFill/>
        </p:spPr>
        <p:txBody>
          <a:bodyPr anchor="t" bIns="0" lIns="0" rIns="0" rtlCol="0" tIns="0" wrap="none"/>
          <a:p>
            <a:pPr algn="l" indent="-342900" marL="342900">
              <a:lnSpc>
                <a:spcPts val="2700"/>
              </a:lnSpc>
              <a:buSzPct val="100000"/>
              <a:buChar char="•"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</a:t>
            </a:r>
            <a:r>
              <a:rPr dirty="0" sz="1700" lang="en-US">
                <a:solidFill>
                  <a:srgbClr val="3B3535"/>
                </a:solidFill>
                <a:highlight>
                  <a:srgbClr val="D5DC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function provides a menu-driven interface for the user to interact with the parking lot management system.</a:t>
            </a:r>
            <a:endParaRPr dirty="0" sz="1700" lang="en-US"/>
          </a:p>
        </p:txBody>
      </p:sp>
      <p:sp>
        <p:nvSpPr>
          <p:cNvPr id="1048602" name="Text 5"/>
          <p:cNvSpPr/>
          <p:nvPr/>
        </p:nvSpPr>
        <p:spPr>
          <a:xfrm>
            <a:off x="758309" y="5216366"/>
            <a:ext cx="13113782" cy="346710"/>
          </a:xfrm>
          <a:prstGeom prst="rect"/>
          <a:noFill/>
        </p:spPr>
        <p:txBody>
          <a:bodyPr anchor="t" bIns="0" lIns="0" rIns="0" rtlCol="0" tIns="0" wrap="none"/>
          <a:p>
            <a:pPr algn="l" indent="-342900" marL="342900">
              <a:lnSpc>
                <a:spcPts val="2700"/>
              </a:lnSpc>
              <a:buSzPct val="100000"/>
              <a:buChar char="•"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slide provides the complete C code for the parking lot management program.</a:t>
            </a:r>
            <a:endParaRPr dirty="0" sz="1700"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3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8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/>
        </p:spPr>
      </p:pic>
      <p:sp>
        <p:nvSpPr>
          <p:cNvPr id="1048608" name="Text 0"/>
          <p:cNvSpPr/>
          <p:nvPr/>
        </p:nvSpPr>
        <p:spPr>
          <a:xfrm>
            <a:off x="6244709" y="1325285"/>
            <a:ext cx="7627382" cy="142541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5600"/>
              </a:lnSpc>
              <a:buNone/>
            </a:pPr>
            <a:r>
              <a:rPr dirty="0" sz="4450" lang="en-US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Parking Lot Data Structure</a:t>
            </a:r>
            <a:endParaRPr dirty="0" sz="4450" lang="en-US"/>
          </a:p>
        </p:txBody>
      </p:sp>
      <p:sp>
        <p:nvSpPr>
          <p:cNvPr id="1048609" name="Shape 1"/>
          <p:cNvSpPr/>
          <p:nvPr/>
        </p:nvSpPr>
        <p:spPr>
          <a:xfrm>
            <a:off x="6244709" y="3075623"/>
            <a:ext cx="3705463" cy="2330887"/>
          </a:xfrm>
          <a:prstGeom prst="roundRect">
            <a:avLst>
              <a:gd name="adj" fmla="val 3904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48610" name="Text 2"/>
          <p:cNvSpPr/>
          <p:nvPr/>
        </p:nvSpPr>
        <p:spPr>
          <a:xfrm>
            <a:off x="6468904" y="3299817"/>
            <a:ext cx="2850713" cy="35623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Vehicle Struct</a:t>
            </a:r>
            <a:endParaRPr dirty="0" sz="2200" lang="en-US"/>
          </a:p>
        </p:txBody>
      </p:sp>
      <p:sp>
        <p:nvSpPr>
          <p:cNvPr id="1048611" name="Text 3"/>
          <p:cNvSpPr/>
          <p:nvPr/>
        </p:nvSpPr>
        <p:spPr>
          <a:xfrm>
            <a:off x="6468904" y="3785949"/>
            <a:ext cx="3257074" cy="6934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Stores vehicle plate numbers in an array.</a:t>
            </a:r>
            <a:endParaRPr dirty="0" sz="1700" lang="en-US"/>
          </a:p>
        </p:txBody>
      </p:sp>
      <p:sp>
        <p:nvSpPr>
          <p:cNvPr id="1048612" name="Shape 4"/>
          <p:cNvSpPr/>
          <p:nvPr/>
        </p:nvSpPr>
        <p:spPr>
          <a:xfrm>
            <a:off x="10166747" y="3075623"/>
            <a:ext cx="3705463" cy="2330887"/>
          </a:xfrm>
          <a:prstGeom prst="roundRect">
            <a:avLst>
              <a:gd name="adj" fmla="val 3904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48613" name="Text 5"/>
          <p:cNvSpPr/>
          <p:nvPr/>
        </p:nvSpPr>
        <p:spPr>
          <a:xfrm>
            <a:off x="10390942" y="3299817"/>
            <a:ext cx="3257074" cy="71247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Queue Representation</a:t>
            </a:r>
            <a:endParaRPr dirty="0" sz="2200" lang="en-US"/>
          </a:p>
        </p:txBody>
      </p:sp>
      <p:sp>
        <p:nvSpPr>
          <p:cNvPr id="1048614" name="Text 6"/>
          <p:cNvSpPr/>
          <p:nvPr/>
        </p:nvSpPr>
        <p:spPr>
          <a:xfrm>
            <a:off x="10390942" y="4142184"/>
            <a:ext cx="3257074" cy="104013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Uses front and rear indices to manage vehicles entering and exiting.</a:t>
            </a:r>
            <a:endParaRPr dirty="0" sz="1700" lang="en-US"/>
          </a:p>
        </p:txBody>
      </p:sp>
      <p:sp>
        <p:nvSpPr>
          <p:cNvPr id="1048615" name="Shape 7"/>
          <p:cNvSpPr/>
          <p:nvPr/>
        </p:nvSpPr>
        <p:spPr>
          <a:xfrm>
            <a:off x="6244709" y="5623084"/>
            <a:ext cx="7627382" cy="1281232"/>
          </a:xfrm>
          <a:prstGeom prst="roundRect">
            <a:avLst>
              <a:gd name="adj" fmla="val 7102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48616" name="Text 8"/>
          <p:cNvSpPr/>
          <p:nvPr/>
        </p:nvSpPr>
        <p:spPr>
          <a:xfrm>
            <a:off x="6468904" y="5847278"/>
            <a:ext cx="2850713" cy="35623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Maximum Capacity</a:t>
            </a:r>
            <a:endParaRPr dirty="0" sz="2200" lang="en-US"/>
          </a:p>
        </p:txBody>
      </p:sp>
      <p:sp>
        <p:nvSpPr>
          <p:cNvPr id="1048617" name="Text 9"/>
          <p:cNvSpPr/>
          <p:nvPr/>
        </p:nvSpPr>
        <p:spPr>
          <a:xfrm>
            <a:off x="6468904" y="6333411"/>
            <a:ext cx="7178993" cy="34671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Parking lot size limited to 10 vehicles using MAX constant.</a:t>
            </a:r>
            <a:endParaRPr dirty="0" sz="1700"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4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623" name="Text 0"/>
          <p:cNvSpPr/>
          <p:nvPr/>
        </p:nvSpPr>
        <p:spPr>
          <a:xfrm>
            <a:off x="758309" y="1320403"/>
            <a:ext cx="13113782" cy="693420"/>
          </a:xfrm>
          <a:prstGeom prst="rect"/>
          <a:noFill/>
        </p:spPr>
        <p:txBody>
          <a:bodyPr anchor="t" bIns="0" lIns="0" rIns="0" rtlCol="0" tIns="0" wrap="none"/>
          <a:p>
            <a:pPr algn="l" indent="-342900" marL="342900">
              <a:lnSpc>
                <a:spcPts val="2700"/>
              </a:lnSpc>
              <a:buSzPct val="100000"/>
              <a:buChar char="•"/>
            </a:pPr>
            <a:r>
              <a:rPr b="1" dirty="0" sz="1700" lang="en-US">
                <a:solidFill>
                  <a:srgbClr val="C00000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ALGORITHM:</a:t>
            </a:r>
          </a:p>
          <a:p>
            <a:pPr algn="l" indent="-342900" marL="342900">
              <a:lnSpc>
                <a:spcPts val="2700"/>
              </a:lnSpc>
              <a:buSzPct val="100000"/>
              <a:buChar char="•"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This slide contains the C code for a Parking Lot Management program</a:t>
            </a:r>
            <a:endParaRPr dirty="0" sz="1700" lang="en-US"/>
          </a:p>
        </p:txBody>
      </p:sp>
      <p:sp>
        <p:nvSpPr>
          <p:cNvPr id="1048624" name="Text 1"/>
          <p:cNvSpPr/>
          <p:nvPr/>
        </p:nvSpPr>
        <p:spPr>
          <a:xfrm>
            <a:off x="758309" y="2089547"/>
            <a:ext cx="13113782" cy="693420"/>
          </a:xfrm>
          <a:prstGeom prst="rect"/>
          <a:noFill/>
        </p:spPr>
        <p:txBody>
          <a:bodyPr anchor="t" bIns="0" lIns="0" rIns="0" rtlCol="0" tIns="0" wrap="square"/>
          <a:p>
            <a:pPr algn="l" indent="-342900" marL="342900">
              <a:lnSpc>
                <a:spcPts val="2700"/>
              </a:lnSpc>
              <a:buSzPct val="100000"/>
              <a:buChar char="•"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program allows users to perform various operations on a parking lot, such as adding vehicles, removing vehicles, checking available space, and displaying parked vehicles</a:t>
            </a:r>
            <a:endParaRPr dirty="0" sz="1700" lang="en-US"/>
          </a:p>
        </p:txBody>
      </p:sp>
      <p:sp>
        <p:nvSpPr>
          <p:cNvPr id="1048625" name="Text 2"/>
          <p:cNvSpPr/>
          <p:nvPr/>
        </p:nvSpPr>
        <p:spPr>
          <a:xfrm>
            <a:off x="758309" y="2858691"/>
            <a:ext cx="13113782" cy="346710"/>
          </a:xfrm>
          <a:prstGeom prst="rect"/>
          <a:noFill/>
        </p:spPr>
        <p:txBody>
          <a:bodyPr anchor="t" bIns="0" lIns="0" rIns="0" rtlCol="0" tIns="0" wrap="none"/>
          <a:p>
            <a:pPr algn="l" indent="-342900" marL="342900">
              <a:lnSpc>
                <a:spcPts val="2700"/>
              </a:lnSpc>
              <a:buSzPct val="100000"/>
              <a:buChar char="•"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program uses a queue data structure to manage the vehicles in the parking lot</a:t>
            </a:r>
            <a:endParaRPr dirty="0" sz="1700" lang="en-US"/>
          </a:p>
        </p:txBody>
      </p:sp>
      <p:sp>
        <p:nvSpPr>
          <p:cNvPr id="1048626" name="Text 3"/>
          <p:cNvSpPr/>
          <p:nvPr/>
        </p:nvSpPr>
        <p:spPr>
          <a:xfrm>
            <a:off x="758309" y="3281124"/>
            <a:ext cx="13113782" cy="346710"/>
          </a:xfrm>
          <a:prstGeom prst="rect"/>
          <a:noFill/>
        </p:spPr>
        <p:txBody>
          <a:bodyPr anchor="t" bIns="0" lIns="0" rIns="0" rtlCol="0" tIns="0" wrap="none"/>
          <a:p>
            <a:pPr algn="l" indent="-342900" marL="342900">
              <a:lnSpc>
                <a:spcPts val="2700"/>
              </a:lnSpc>
              <a:buSzPct val="100000"/>
              <a:buChar char="•"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key functions include:</a:t>
            </a:r>
            <a:endParaRPr dirty="0" sz="1700" lang="en-US"/>
          </a:p>
        </p:txBody>
      </p:sp>
      <p:sp>
        <p:nvSpPr>
          <p:cNvPr id="1048627" name="Text 4"/>
          <p:cNvSpPr/>
          <p:nvPr/>
        </p:nvSpPr>
        <p:spPr>
          <a:xfrm>
            <a:off x="758309" y="3703558"/>
            <a:ext cx="13113782" cy="354330"/>
          </a:xfrm>
          <a:prstGeom prst="rect"/>
          <a:noFill/>
        </p:spPr>
        <p:txBody>
          <a:bodyPr anchor="t" bIns="0" lIns="0" rIns="0" rtlCol="0" tIns="0" wrap="none"/>
          <a:p>
            <a:pPr algn="l" indent="-342900" lvl="1" marL="685800">
              <a:lnSpc>
                <a:spcPts val="2700"/>
              </a:lnSpc>
              <a:buSzPct val="100000"/>
              <a:buChar char="•"/>
            </a:pPr>
            <a:r>
              <a:rPr dirty="0" sz="1700" lang="en-US">
                <a:solidFill>
                  <a:srgbClr val="3B3535"/>
                </a:solidFill>
                <a:highlight>
                  <a:srgbClr val="D5DC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isFull()</a:t>
            </a: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and </a:t>
            </a:r>
            <a:r>
              <a:rPr dirty="0" sz="1700" lang="en-US">
                <a:solidFill>
                  <a:srgbClr val="3B3535"/>
                </a:solidFill>
                <a:highlight>
                  <a:srgbClr val="D5DC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isEmpty()</a:t>
            </a: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to check the status of the parking lot</a:t>
            </a:r>
            <a:endParaRPr dirty="0" sz="1700" lang="en-US"/>
          </a:p>
        </p:txBody>
      </p:sp>
      <p:sp>
        <p:nvSpPr>
          <p:cNvPr id="1048628" name="Text 5"/>
          <p:cNvSpPr/>
          <p:nvPr/>
        </p:nvSpPr>
        <p:spPr>
          <a:xfrm>
            <a:off x="758309" y="4133612"/>
            <a:ext cx="13113782" cy="354330"/>
          </a:xfrm>
          <a:prstGeom prst="rect"/>
          <a:noFill/>
        </p:spPr>
        <p:txBody>
          <a:bodyPr anchor="t" bIns="0" lIns="0" rIns="0" rtlCol="0" tIns="0" wrap="none"/>
          <a:p>
            <a:pPr algn="l" indent="-342900" lvl="1" marL="685800">
              <a:lnSpc>
                <a:spcPts val="2700"/>
              </a:lnSpc>
              <a:buSzPct val="100000"/>
              <a:buChar char="•"/>
            </a:pPr>
            <a:r>
              <a:rPr dirty="0" sz="1700" lang="en-US">
                <a:solidFill>
                  <a:srgbClr val="3B3535"/>
                </a:solidFill>
                <a:highlight>
                  <a:srgbClr val="D5DC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addVehicle()</a:t>
            </a: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to add a new vehicle to the parking lot</a:t>
            </a:r>
            <a:endParaRPr dirty="0" sz="1700" lang="en-US"/>
          </a:p>
        </p:txBody>
      </p:sp>
      <p:sp>
        <p:nvSpPr>
          <p:cNvPr id="1048629" name="Text 6"/>
          <p:cNvSpPr/>
          <p:nvPr/>
        </p:nvSpPr>
        <p:spPr>
          <a:xfrm>
            <a:off x="758309" y="4563666"/>
            <a:ext cx="13113782" cy="354330"/>
          </a:xfrm>
          <a:prstGeom prst="rect"/>
          <a:noFill/>
        </p:spPr>
        <p:txBody>
          <a:bodyPr anchor="t" bIns="0" lIns="0" rIns="0" rtlCol="0" tIns="0" wrap="none"/>
          <a:p>
            <a:pPr algn="l" indent="-342900" lvl="1" marL="685800">
              <a:lnSpc>
                <a:spcPts val="2700"/>
              </a:lnSpc>
              <a:buSzPct val="100000"/>
              <a:buChar char="•"/>
            </a:pPr>
            <a:r>
              <a:rPr dirty="0" sz="1700" lang="en-US">
                <a:solidFill>
                  <a:srgbClr val="3B3535"/>
                </a:solidFill>
                <a:highlight>
                  <a:srgbClr val="D5DC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removeVehicle()</a:t>
            </a: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to remove a vehicle from the parking lot</a:t>
            </a:r>
            <a:endParaRPr dirty="0" sz="1700" lang="en-US"/>
          </a:p>
        </p:txBody>
      </p:sp>
      <p:sp>
        <p:nvSpPr>
          <p:cNvPr id="1048630" name="Text 7"/>
          <p:cNvSpPr/>
          <p:nvPr/>
        </p:nvSpPr>
        <p:spPr>
          <a:xfrm>
            <a:off x="758309" y="4993719"/>
            <a:ext cx="13113782" cy="354330"/>
          </a:xfrm>
          <a:prstGeom prst="rect"/>
          <a:noFill/>
        </p:spPr>
        <p:txBody>
          <a:bodyPr anchor="t" bIns="0" lIns="0" rIns="0" rtlCol="0" tIns="0" wrap="none"/>
          <a:p>
            <a:pPr algn="l" indent="-342900" lvl="1" marL="685800">
              <a:lnSpc>
                <a:spcPts val="2700"/>
              </a:lnSpc>
              <a:buSzPct val="100000"/>
              <a:buChar char="•"/>
            </a:pPr>
            <a:r>
              <a:rPr dirty="0" sz="1700" lang="en-US">
                <a:solidFill>
                  <a:srgbClr val="3B3535"/>
                </a:solidFill>
                <a:highlight>
                  <a:srgbClr val="D5DC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checkSpace()</a:t>
            </a: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to check the available space in the parking lot</a:t>
            </a:r>
            <a:endParaRPr dirty="0" sz="1700" lang="en-US"/>
          </a:p>
        </p:txBody>
      </p:sp>
      <p:sp>
        <p:nvSpPr>
          <p:cNvPr id="1048631" name="Text 8"/>
          <p:cNvSpPr/>
          <p:nvPr/>
        </p:nvSpPr>
        <p:spPr>
          <a:xfrm>
            <a:off x="758309" y="5423773"/>
            <a:ext cx="13113782" cy="354330"/>
          </a:xfrm>
          <a:prstGeom prst="rect"/>
          <a:noFill/>
        </p:spPr>
        <p:txBody>
          <a:bodyPr anchor="t" bIns="0" lIns="0" rIns="0" rtlCol="0" tIns="0" wrap="none"/>
          <a:p>
            <a:pPr algn="l" indent="-342900" lvl="1" marL="685800">
              <a:lnSpc>
                <a:spcPts val="2700"/>
              </a:lnSpc>
              <a:buSzPct val="100000"/>
              <a:buChar char="•"/>
            </a:pPr>
            <a:r>
              <a:rPr dirty="0" sz="1700" lang="en-US">
                <a:solidFill>
                  <a:srgbClr val="3B3535"/>
                </a:solidFill>
                <a:highlight>
                  <a:srgbClr val="D5DC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displayVehicles()</a:t>
            </a: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to display the vehicles currently parked in the lot</a:t>
            </a:r>
            <a:endParaRPr dirty="0" sz="1700" lang="en-US"/>
          </a:p>
        </p:txBody>
      </p:sp>
      <p:sp>
        <p:nvSpPr>
          <p:cNvPr id="1048632" name="Text 9"/>
          <p:cNvSpPr/>
          <p:nvPr/>
        </p:nvSpPr>
        <p:spPr>
          <a:xfrm>
            <a:off x="758309" y="5853827"/>
            <a:ext cx="13113782" cy="354330"/>
          </a:xfrm>
          <a:prstGeom prst="rect"/>
          <a:noFill/>
        </p:spPr>
        <p:txBody>
          <a:bodyPr anchor="t" bIns="0" lIns="0" rIns="0" rtlCol="0" tIns="0" wrap="none"/>
          <a:p>
            <a:pPr algn="l" indent="-342900" marL="342900">
              <a:lnSpc>
                <a:spcPts val="2700"/>
              </a:lnSpc>
              <a:buSzPct val="100000"/>
              <a:buChar char="•"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</a:t>
            </a:r>
            <a:r>
              <a:rPr dirty="0" sz="1700" lang="en-US">
                <a:solidFill>
                  <a:srgbClr val="3B3535"/>
                </a:solidFill>
                <a:highlight>
                  <a:srgbClr val="D5DC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menu()</a:t>
            </a: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function provides a user interface for interacting with the program</a:t>
            </a:r>
            <a:endParaRPr dirty="0" sz="1700" lang="en-US"/>
          </a:p>
        </p:txBody>
      </p:sp>
      <p:sp>
        <p:nvSpPr>
          <p:cNvPr id="1048633" name="Text 10"/>
          <p:cNvSpPr/>
          <p:nvPr/>
        </p:nvSpPr>
        <p:spPr>
          <a:xfrm>
            <a:off x="758309" y="6283881"/>
            <a:ext cx="13113782" cy="354330"/>
          </a:xfrm>
          <a:prstGeom prst="rect"/>
          <a:noFill/>
        </p:spPr>
        <p:txBody>
          <a:bodyPr anchor="t" bIns="0" lIns="0" rIns="0" rtlCol="0" tIns="0" wrap="none"/>
          <a:p>
            <a:pPr algn="l" indent="-342900" marL="342900">
              <a:lnSpc>
                <a:spcPts val="2700"/>
              </a:lnSpc>
              <a:buSzPct val="100000"/>
              <a:buChar char="•"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The </a:t>
            </a:r>
            <a:r>
              <a:rPr dirty="0" sz="1700" lang="en-US">
                <a:solidFill>
                  <a:srgbClr val="3B3535"/>
                </a:solidFill>
                <a:highlight>
                  <a:srgbClr val="D5DCF6"/>
                </a:highlight>
                <a:latin typeface="Consolas" pitchFamily="34" charset="0"/>
                <a:ea typeface="Consolas" pitchFamily="34" charset="-122"/>
                <a:cs typeface="Consolas" pitchFamily="34" charset="-120"/>
              </a:rPr>
              <a:t>main()</a:t>
            </a: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 function handles the user input and calls the appropriate functions based on the user's choice</a:t>
            </a:r>
            <a:endParaRPr dirty="0" sz="1700"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4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1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/>
        </p:spPr>
      </p:pic>
      <p:sp>
        <p:nvSpPr>
          <p:cNvPr id="1048639" name="Text 0"/>
          <p:cNvSpPr/>
          <p:nvPr/>
        </p:nvSpPr>
        <p:spPr>
          <a:xfrm>
            <a:off x="6244709" y="2298740"/>
            <a:ext cx="5792033" cy="71270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5600"/>
              </a:lnSpc>
              <a:buNone/>
            </a:pPr>
            <a:r>
              <a:rPr dirty="0" sz="4450" lang="en-US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Checking Lot Status</a:t>
            </a:r>
            <a:endParaRPr dirty="0" sz="4450" lang="en-US"/>
          </a:p>
        </p:txBody>
      </p:sp>
      <p:sp>
        <p:nvSpPr>
          <p:cNvPr id="1048640" name="Shape 1"/>
          <p:cNvSpPr/>
          <p:nvPr/>
        </p:nvSpPr>
        <p:spPr>
          <a:xfrm>
            <a:off x="6244709" y="333636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48641" name="Text 2"/>
          <p:cNvSpPr/>
          <p:nvPr/>
        </p:nvSpPr>
        <p:spPr>
          <a:xfrm>
            <a:off x="6948726" y="3410783"/>
            <a:ext cx="2850713" cy="35623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IsFull Function</a:t>
            </a:r>
            <a:endParaRPr dirty="0" sz="2200" lang="en-US"/>
          </a:p>
        </p:txBody>
      </p:sp>
      <p:sp>
        <p:nvSpPr>
          <p:cNvPr id="1048642" name="Text 3"/>
          <p:cNvSpPr/>
          <p:nvPr/>
        </p:nvSpPr>
        <p:spPr>
          <a:xfrm>
            <a:off x="6948726" y="3896916"/>
            <a:ext cx="2974300" cy="6934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Returns true if rear equals maximum index (lot full).</a:t>
            </a:r>
            <a:endParaRPr dirty="0" sz="1700" lang="en-US"/>
          </a:p>
        </p:txBody>
      </p:sp>
      <p:sp>
        <p:nvSpPr>
          <p:cNvPr id="1048643" name="Shape 4"/>
          <p:cNvSpPr/>
          <p:nvPr/>
        </p:nvSpPr>
        <p:spPr>
          <a:xfrm>
            <a:off x="10193774" y="3336369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48644" name="Text 5"/>
          <p:cNvSpPr/>
          <p:nvPr/>
        </p:nvSpPr>
        <p:spPr>
          <a:xfrm>
            <a:off x="10897791" y="3410783"/>
            <a:ext cx="2850713" cy="35623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IsEmpty Function</a:t>
            </a:r>
            <a:endParaRPr dirty="0" sz="2200" lang="en-US"/>
          </a:p>
        </p:txBody>
      </p:sp>
      <p:sp>
        <p:nvSpPr>
          <p:cNvPr id="1048645" name="Text 6"/>
          <p:cNvSpPr/>
          <p:nvPr/>
        </p:nvSpPr>
        <p:spPr>
          <a:xfrm>
            <a:off x="10897791" y="3896916"/>
            <a:ext cx="2974300" cy="6934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Returns true if no vehicles are parked.</a:t>
            </a:r>
            <a:endParaRPr dirty="0" sz="1700" lang="en-US"/>
          </a:p>
        </p:txBody>
      </p:sp>
      <p:sp>
        <p:nvSpPr>
          <p:cNvPr id="1048646" name="Shape 7"/>
          <p:cNvSpPr/>
          <p:nvPr/>
        </p:nvSpPr>
        <p:spPr>
          <a:xfrm>
            <a:off x="6244709" y="5023604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48647" name="Text 8"/>
          <p:cNvSpPr/>
          <p:nvPr/>
        </p:nvSpPr>
        <p:spPr>
          <a:xfrm>
            <a:off x="6948726" y="5098018"/>
            <a:ext cx="2850713" cy="35623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Space Availability</a:t>
            </a:r>
            <a:endParaRPr dirty="0" sz="2200" lang="en-US"/>
          </a:p>
        </p:txBody>
      </p:sp>
      <p:sp>
        <p:nvSpPr>
          <p:cNvPr id="1048648" name="Text 9"/>
          <p:cNvSpPr/>
          <p:nvPr/>
        </p:nvSpPr>
        <p:spPr>
          <a:xfrm>
            <a:off x="6948726" y="5584150"/>
            <a:ext cx="6923365" cy="34671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Calculates available spots as capacity minus occupied spots.</a:t>
            </a:r>
            <a:endParaRPr dirty="0" sz="1700"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5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3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9144000" y="0"/>
            <a:ext cx="5486400" cy="8229600"/>
          </a:xfrm>
          <a:prstGeom prst="rect"/>
        </p:spPr>
      </p:pic>
      <p:sp>
        <p:nvSpPr>
          <p:cNvPr id="1048654" name="Text 0"/>
          <p:cNvSpPr/>
          <p:nvPr/>
        </p:nvSpPr>
        <p:spPr>
          <a:xfrm>
            <a:off x="758309" y="996077"/>
            <a:ext cx="7620714" cy="71270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5600"/>
              </a:lnSpc>
              <a:buNone/>
            </a:pPr>
            <a:r>
              <a:rPr dirty="0" sz="4450" lang="en-US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Adding Vehicles to the Lot</a:t>
            </a:r>
            <a:endParaRPr dirty="0" sz="4450" lang="en-US"/>
          </a:p>
        </p:txBody>
      </p:sp>
      <p:pic>
        <p:nvPicPr>
          <p:cNvPr id="2097164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758309" y="2033707"/>
            <a:ext cx="1083231" cy="1299924"/>
          </a:xfrm>
          <a:prstGeom prst="rect"/>
        </p:spPr>
      </p:pic>
      <p:sp>
        <p:nvSpPr>
          <p:cNvPr id="1048655" name="Text 1"/>
          <p:cNvSpPr/>
          <p:nvPr/>
        </p:nvSpPr>
        <p:spPr>
          <a:xfrm>
            <a:off x="2166461" y="2250281"/>
            <a:ext cx="3194209" cy="35623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Step 1: Check capacity</a:t>
            </a:r>
            <a:endParaRPr dirty="0" sz="2200" lang="en-US"/>
          </a:p>
        </p:txBody>
      </p:sp>
      <p:sp>
        <p:nvSpPr>
          <p:cNvPr id="1048656" name="Text 2"/>
          <p:cNvSpPr/>
          <p:nvPr/>
        </p:nvSpPr>
        <p:spPr>
          <a:xfrm>
            <a:off x="2166461" y="2736413"/>
            <a:ext cx="6219230" cy="34671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Verify if the lot is full before parking.</a:t>
            </a:r>
            <a:endParaRPr dirty="0" sz="1700" lang="en-US"/>
          </a:p>
        </p:txBody>
      </p:sp>
      <p:pic>
        <p:nvPicPr>
          <p:cNvPr id="2097165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758309" y="3333631"/>
            <a:ext cx="1083231" cy="1299924"/>
          </a:xfrm>
          <a:prstGeom prst="rect"/>
        </p:spPr>
      </p:pic>
      <p:sp>
        <p:nvSpPr>
          <p:cNvPr id="1048657" name="Text 3"/>
          <p:cNvSpPr/>
          <p:nvPr/>
        </p:nvSpPr>
        <p:spPr>
          <a:xfrm>
            <a:off x="2166461" y="3550206"/>
            <a:ext cx="3932158" cy="35623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Step 2: Input Plate Number</a:t>
            </a:r>
            <a:endParaRPr dirty="0" sz="2200" lang="en-US"/>
          </a:p>
        </p:txBody>
      </p:sp>
      <p:sp>
        <p:nvSpPr>
          <p:cNvPr id="1048658" name="Text 4"/>
          <p:cNvSpPr/>
          <p:nvPr/>
        </p:nvSpPr>
        <p:spPr>
          <a:xfrm>
            <a:off x="2166461" y="4036338"/>
            <a:ext cx="6219230" cy="34671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Read and store the vehicle plate number.</a:t>
            </a:r>
            <a:endParaRPr dirty="0" sz="1700" lang="en-US"/>
          </a:p>
        </p:txBody>
      </p:sp>
      <p:pic>
        <p:nvPicPr>
          <p:cNvPr id="2097166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758309" y="4633555"/>
            <a:ext cx="1083231" cy="1299924"/>
          </a:xfrm>
          <a:prstGeom prst="rect"/>
        </p:spPr>
      </p:pic>
      <p:sp>
        <p:nvSpPr>
          <p:cNvPr id="1048659" name="Text 5"/>
          <p:cNvSpPr/>
          <p:nvPr/>
        </p:nvSpPr>
        <p:spPr>
          <a:xfrm>
            <a:off x="2166461" y="4850130"/>
            <a:ext cx="3230047" cy="35623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Step 3: Update Indices</a:t>
            </a:r>
            <a:endParaRPr dirty="0" sz="2200" lang="en-US"/>
          </a:p>
        </p:txBody>
      </p:sp>
      <p:sp>
        <p:nvSpPr>
          <p:cNvPr id="1048660" name="Text 6"/>
          <p:cNvSpPr/>
          <p:nvPr/>
        </p:nvSpPr>
        <p:spPr>
          <a:xfrm>
            <a:off x="2166461" y="5336262"/>
            <a:ext cx="6219230" cy="34671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Set front or increment rear position.</a:t>
            </a:r>
            <a:endParaRPr dirty="0" sz="1700" lang="en-US"/>
          </a:p>
        </p:txBody>
      </p:sp>
      <p:pic>
        <p:nvPicPr>
          <p:cNvPr id="2097167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758309" y="5933480"/>
            <a:ext cx="1083231" cy="1299924"/>
          </a:xfrm>
          <a:prstGeom prst="rect"/>
        </p:spPr>
      </p:pic>
      <p:sp>
        <p:nvSpPr>
          <p:cNvPr id="1048661" name="Text 7"/>
          <p:cNvSpPr/>
          <p:nvPr/>
        </p:nvSpPr>
        <p:spPr>
          <a:xfrm>
            <a:off x="2166461" y="6150054"/>
            <a:ext cx="3430429" cy="35623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Step 4: Confirm Parking</a:t>
            </a:r>
            <a:endParaRPr dirty="0" sz="2200" lang="en-US"/>
          </a:p>
        </p:txBody>
      </p:sp>
      <p:sp>
        <p:nvSpPr>
          <p:cNvPr id="1048662" name="Text 8"/>
          <p:cNvSpPr/>
          <p:nvPr/>
        </p:nvSpPr>
        <p:spPr>
          <a:xfrm>
            <a:off x="2166461" y="6636187"/>
            <a:ext cx="6219230" cy="34671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Notify vehicle spot allocation.</a:t>
            </a:r>
            <a:endParaRPr dirty="0" sz="1700"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55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69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14630400" cy="2708196"/>
          </a:xfrm>
          <a:prstGeom prst="rect"/>
        </p:spPr>
      </p:pic>
      <p:sp>
        <p:nvSpPr>
          <p:cNvPr id="1048668" name="Text 0"/>
          <p:cNvSpPr/>
          <p:nvPr/>
        </p:nvSpPr>
        <p:spPr>
          <a:xfrm>
            <a:off x="758309" y="3927038"/>
            <a:ext cx="9239131" cy="71270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5600"/>
              </a:lnSpc>
              <a:buNone/>
            </a:pPr>
            <a:r>
              <a:rPr dirty="0" sz="4450" lang="en-US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Removing Vehicles from the Lot</a:t>
            </a:r>
            <a:endParaRPr dirty="0" sz="4450" lang="en-US"/>
          </a:p>
        </p:txBody>
      </p:sp>
      <p:sp>
        <p:nvSpPr>
          <p:cNvPr id="1048669" name="Shape 1"/>
          <p:cNvSpPr/>
          <p:nvPr/>
        </p:nvSpPr>
        <p:spPr>
          <a:xfrm>
            <a:off x="758309" y="5614630"/>
            <a:ext cx="4154567" cy="216575"/>
          </a:xfrm>
          <a:prstGeom prst="roundRect">
            <a:avLst>
              <a:gd name="adj" fmla="val 42017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48670" name="Text 2"/>
          <p:cNvSpPr/>
          <p:nvPr/>
        </p:nvSpPr>
        <p:spPr>
          <a:xfrm>
            <a:off x="758309" y="6156127"/>
            <a:ext cx="3050738" cy="35623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Check if Lot is Empty</a:t>
            </a:r>
            <a:endParaRPr dirty="0" sz="2200" lang="en-US"/>
          </a:p>
        </p:txBody>
      </p:sp>
      <p:sp>
        <p:nvSpPr>
          <p:cNvPr id="1048671" name="Text 3"/>
          <p:cNvSpPr/>
          <p:nvPr/>
        </p:nvSpPr>
        <p:spPr>
          <a:xfrm>
            <a:off x="758309" y="6642259"/>
            <a:ext cx="4154567" cy="34671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Prevent removal if no vehicles.</a:t>
            </a:r>
            <a:endParaRPr dirty="0" sz="1700" lang="en-US"/>
          </a:p>
        </p:txBody>
      </p:sp>
      <p:sp>
        <p:nvSpPr>
          <p:cNvPr id="1048672" name="Shape 4"/>
          <p:cNvSpPr/>
          <p:nvPr/>
        </p:nvSpPr>
        <p:spPr>
          <a:xfrm>
            <a:off x="5237798" y="5289590"/>
            <a:ext cx="4154686" cy="216575"/>
          </a:xfrm>
          <a:prstGeom prst="roundRect">
            <a:avLst>
              <a:gd name="adj" fmla="val 42017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48673" name="Text 5"/>
          <p:cNvSpPr/>
          <p:nvPr/>
        </p:nvSpPr>
        <p:spPr>
          <a:xfrm>
            <a:off x="5237798" y="5831086"/>
            <a:ext cx="3161943" cy="35623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Remove Front Vehicle</a:t>
            </a:r>
            <a:endParaRPr dirty="0" sz="2200" lang="en-US"/>
          </a:p>
        </p:txBody>
      </p:sp>
      <p:sp>
        <p:nvSpPr>
          <p:cNvPr id="1048674" name="Text 6"/>
          <p:cNvSpPr/>
          <p:nvPr/>
        </p:nvSpPr>
        <p:spPr>
          <a:xfrm>
            <a:off x="5237798" y="6317218"/>
            <a:ext cx="4154686" cy="6934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Remove vehicle at the front of the queue.</a:t>
            </a:r>
            <a:endParaRPr dirty="0" sz="1700" lang="en-US"/>
          </a:p>
        </p:txBody>
      </p:sp>
      <p:sp>
        <p:nvSpPr>
          <p:cNvPr id="1048675" name="Shape 7"/>
          <p:cNvSpPr/>
          <p:nvPr/>
        </p:nvSpPr>
        <p:spPr>
          <a:xfrm>
            <a:off x="9717405" y="4964668"/>
            <a:ext cx="4154686" cy="216575"/>
          </a:xfrm>
          <a:prstGeom prst="roundRect">
            <a:avLst>
              <a:gd name="adj" fmla="val 42017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48676" name="Text 8"/>
          <p:cNvSpPr/>
          <p:nvPr/>
        </p:nvSpPr>
        <p:spPr>
          <a:xfrm>
            <a:off x="9717405" y="5506164"/>
            <a:ext cx="2850713" cy="35623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Adjust Indices</a:t>
            </a:r>
            <a:endParaRPr dirty="0" sz="2200" lang="en-US"/>
          </a:p>
        </p:txBody>
      </p:sp>
      <p:sp>
        <p:nvSpPr>
          <p:cNvPr id="1048677" name="Text 9"/>
          <p:cNvSpPr/>
          <p:nvPr/>
        </p:nvSpPr>
        <p:spPr>
          <a:xfrm>
            <a:off x="9717405" y="5992297"/>
            <a:ext cx="4154686" cy="6934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Move front index forward; reset if empty.</a:t>
            </a:r>
            <a:endParaRPr dirty="0" sz="1700"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59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1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/>
        </p:spPr>
      </p:pic>
      <p:sp>
        <p:nvSpPr>
          <p:cNvPr id="1048683" name="Text 0"/>
          <p:cNvSpPr/>
          <p:nvPr/>
        </p:nvSpPr>
        <p:spPr>
          <a:xfrm>
            <a:off x="6244709" y="1988463"/>
            <a:ext cx="7627382" cy="142541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5600"/>
              </a:lnSpc>
              <a:buNone/>
            </a:pPr>
            <a:r>
              <a:rPr dirty="0" sz="4450" lang="en-US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Displaying Parked Vehicles</a:t>
            </a:r>
            <a:endParaRPr dirty="0" sz="4450" lang="en-US"/>
          </a:p>
        </p:txBody>
      </p:sp>
      <p:sp>
        <p:nvSpPr>
          <p:cNvPr id="1048684" name="Shape 1"/>
          <p:cNvSpPr/>
          <p:nvPr/>
        </p:nvSpPr>
        <p:spPr>
          <a:xfrm>
            <a:off x="6244709" y="3738801"/>
            <a:ext cx="7627382" cy="2502218"/>
          </a:xfrm>
          <a:prstGeom prst="roundRect">
            <a:avLst>
              <a:gd name="adj" fmla="val 3637"/>
            </a:avLst>
          </a:prstGeom>
          <a:noFill/>
          <a:ln w="7620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1048685" name="Shape 2"/>
          <p:cNvSpPr/>
          <p:nvPr/>
        </p:nvSpPr>
        <p:spPr>
          <a:xfrm>
            <a:off x="6252329" y="3746421"/>
            <a:ext cx="7612142" cy="621744"/>
          </a:xfrm>
          <a:prstGeom prst="rect"/>
          <a:solidFill>
            <a:srgbClr val="FFFFFF">
              <a:alpha val="4000"/>
            </a:srgbClr>
          </a:solidFill>
        </p:spPr>
      </p:sp>
      <p:sp>
        <p:nvSpPr>
          <p:cNvPr id="1048686" name="Text 3"/>
          <p:cNvSpPr/>
          <p:nvPr/>
        </p:nvSpPr>
        <p:spPr>
          <a:xfrm>
            <a:off x="6468904" y="3883938"/>
            <a:ext cx="3369112" cy="34671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Spot Number</a:t>
            </a:r>
            <a:endParaRPr dirty="0" sz="1700" lang="en-US"/>
          </a:p>
        </p:txBody>
      </p:sp>
      <p:sp>
        <p:nvSpPr>
          <p:cNvPr id="1048687" name="Text 4"/>
          <p:cNvSpPr/>
          <p:nvPr/>
        </p:nvSpPr>
        <p:spPr>
          <a:xfrm>
            <a:off x="10278785" y="3883938"/>
            <a:ext cx="3369112" cy="34671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Plate Number</a:t>
            </a:r>
            <a:endParaRPr dirty="0" sz="1700" lang="en-US"/>
          </a:p>
        </p:txBody>
      </p:sp>
      <p:sp>
        <p:nvSpPr>
          <p:cNvPr id="1048688" name="Shape 5"/>
          <p:cNvSpPr/>
          <p:nvPr/>
        </p:nvSpPr>
        <p:spPr>
          <a:xfrm>
            <a:off x="6252329" y="4368165"/>
            <a:ext cx="7612142" cy="621744"/>
          </a:xfrm>
          <a:prstGeom prst="rect"/>
          <a:solidFill>
            <a:srgbClr val="000000">
              <a:alpha val="4000"/>
            </a:srgbClr>
          </a:solidFill>
        </p:spPr>
      </p:sp>
      <p:sp>
        <p:nvSpPr>
          <p:cNvPr id="1048689" name="Text 6"/>
          <p:cNvSpPr/>
          <p:nvPr/>
        </p:nvSpPr>
        <p:spPr>
          <a:xfrm>
            <a:off x="6468904" y="4505682"/>
            <a:ext cx="3369112" cy="34671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Front Index</a:t>
            </a:r>
            <a:endParaRPr dirty="0" sz="1700" lang="en-US"/>
          </a:p>
        </p:txBody>
      </p:sp>
      <p:sp>
        <p:nvSpPr>
          <p:cNvPr id="1048690" name="Text 7"/>
          <p:cNvSpPr/>
          <p:nvPr/>
        </p:nvSpPr>
        <p:spPr>
          <a:xfrm>
            <a:off x="10278785" y="4505682"/>
            <a:ext cx="3369112" cy="34671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First vehicle's plate</a:t>
            </a:r>
            <a:endParaRPr dirty="0" sz="1700" lang="en-US"/>
          </a:p>
        </p:txBody>
      </p:sp>
      <p:sp>
        <p:nvSpPr>
          <p:cNvPr id="1048691" name="Shape 8"/>
          <p:cNvSpPr/>
          <p:nvPr/>
        </p:nvSpPr>
        <p:spPr>
          <a:xfrm>
            <a:off x="6252329" y="4989909"/>
            <a:ext cx="7612142" cy="621744"/>
          </a:xfrm>
          <a:prstGeom prst="rect"/>
          <a:solidFill>
            <a:srgbClr val="FFFFFF">
              <a:alpha val="4000"/>
            </a:srgbClr>
          </a:solidFill>
        </p:spPr>
      </p:sp>
      <p:sp>
        <p:nvSpPr>
          <p:cNvPr id="1048692" name="Text 9"/>
          <p:cNvSpPr/>
          <p:nvPr/>
        </p:nvSpPr>
        <p:spPr>
          <a:xfrm>
            <a:off x="6468904" y="5127427"/>
            <a:ext cx="3369112" cy="34671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Rear Index</a:t>
            </a:r>
            <a:endParaRPr dirty="0" sz="1700" lang="en-US"/>
          </a:p>
        </p:txBody>
      </p:sp>
      <p:sp>
        <p:nvSpPr>
          <p:cNvPr id="1048693" name="Text 10"/>
          <p:cNvSpPr/>
          <p:nvPr/>
        </p:nvSpPr>
        <p:spPr>
          <a:xfrm>
            <a:off x="10278785" y="5127427"/>
            <a:ext cx="3369112" cy="34671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Last vehicle's plate</a:t>
            </a:r>
            <a:endParaRPr dirty="0" sz="1700" lang="en-US"/>
          </a:p>
        </p:txBody>
      </p:sp>
      <p:sp>
        <p:nvSpPr>
          <p:cNvPr id="1048694" name="Shape 11"/>
          <p:cNvSpPr/>
          <p:nvPr/>
        </p:nvSpPr>
        <p:spPr>
          <a:xfrm>
            <a:off x="6252329" y="5611654"/>
            <a:ext cx="7612142" cy="621744"/>
          </a:xfrm>
          <a:prstGeom prst="rect"/>
          <a:solidFill>
            <a:srgbClr val="000000">
              <a:alpha val="4000"/>
            </a:srgbClr>
          </a:solidFill>
        </p:spPr>
      </p:sp>
      <p:sp>
        <p:nvSpPr>
          <p:cNvPr id="1048695" name="Text 12"/>
          <p:cNvSpPr/>
          <p:nvPr/>
        </p:nvSpPr>
        <p:spPr>
          <a:xfrm>
            <a:off x="6468904" y="5749171"/>
            <a:ext cx="3369112" cy="34671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Loop Through Vehicles</a:t>
            </a:r>
            <a:endParaRPr dirty="0" sz="1700" lang="en-US"/>
          </a:p>
        </p:txBody>
      </p:sp>
      <p:sp>
        <p:nvSpPr>
          <p:cNvPr id="1048696" name="Text 13"/>
          <p:cNvSpPr/>
          <p:nvPr/>
        </p:nvSpPr>
        <p:spPr>
          <a:xfrm>
            <a:off x="10278785" y="5749171"/>
            <a:ext cx="3369112" cy="34671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Print details from front to rear</a:t>
            </a:r>
            <a:endParaRPr dirty="0" sz="1700"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63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3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/>
        </p:spPr>
      </p:pic>
      <p:sp>
        <p:nvSpPr>
          <p:cNvPr id="1048702" name="Text 0"/>
          <p:cNvSpPr/>
          <p:nvPr/>
        </p:nvSpPr>
        <p:spPr>
          <a:xfrm>
            <a:off x="6244709" y="1441609"/>
            <a:ext cx="6961227" cy="712708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5600"/>
              </a:lnSpc>
              <a:buNone/>
            </a:pPr>
            <a:r>
              <a:rPr dirty="0" sz="4450" lang="en-US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User Interaction &amp; Menu</a:t>
            </a:r>
            <a:endParaRPr dirty="0" sz="4450" lang="en-US"/>
          </a:p>
        </p:txBody>
      </p:sp>
      <p:pic>
        <p:nvPicPr>
          <p:cNvPr id="2097174" name="Image 1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2"/>
          <a:stretch>
            <a:fillRect/>
          </a:stretch>
        </p:blipFill>
        <p:spPr>
          <a:xfrm>
            <a:off x="6244709" y="2479238"/>
            <a:ext cx="541615" cy="541615"/>
          </a:xfrm>
          <a:prstGeom prst="rect"/>
        </p:spPr>
      </p:pic>
      <p:sp>
        <p:nvSpPr>
          <p:cNvPr id="1048703" name="Text 1"/>
          <p:cNvSpPr/>
          <p:nvPr/>
        </p:nvSpPr>
        <p:spPr>
          <a:xfrm>
            <a:off x="6244709" y="3237428"/>
            <a:ext cx="2361962" cy="35623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Add Vehicle</a:t>
            </a:r>
            <a:endParaRPr dirty="0" sz="2200" lang="en-US"/>
          </a:p>
        </p:txBody>
      </p:sp>
      <p:sp>
        <p:nvSpPr>
          <p:cNvPr id="1048704" name="Text 2"/>
          <p:cNvSpPr/>
          <p:nvPr/>
        </p:nvSpPr>
        <p:spPr>
          <a:xfrm>
            <a:off x="6244709" y="3723561"/>
            <a:ext cx="2361962" cy="6934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Option 1 to park a new vehicle.</a:t>
            </a:r>
            <a:endParaRPr dirty="0" sz="1700" lang="en-US"/>
          </a:p>
        </p:txBody>
      </p:sp>
      <p:pic>
        <p:nvPicPr>
          <p:cNvPr id="2097175" name="Image 2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8877419" y="2479238"/>
            <a:ext cx="541615" cy="541615"/>
          </a:xfrm>
          <a:prstGeom prst="rect"/>
        </p:spPr>
      </p:pic>
      <p:sp>
        <p:nvSpPr>
          <p:cNvPr id="1048705" name="Text 3"/>
          <p:cNvSpPr/>
          <p:nvPr/>
        </p:nvSpPr>
        <p:spPr>
          <a:xfrm>
            <a:off x="8877419" y="3237428"/>
            <a:ext cx="2361962" cy="35623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Remove Vehicle</a:t>
            </a:r>
            <a:endParaRPr dirty="0" sz="2200" lang="en-US"/>
          </a:p>
        </p:txBody>
      </p:sp>
      <p:sp>
        <p:nvSpPr>
          <p:cNvPr id="1048706" name="Text 4"/>
          <p:cNvSpPr/>
          <p:nvPr/>
        </p:nvSpPr>
        <p:spPr>
          <a:xfrm>
            <a:off x="8877419" y="3723561"/>
            <a:ext cx="2361962" cy="6934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Option 2 to remove a parked vehicle.</a:t>
            </a:r>
            <a:endParaRPr dirty="0" sz="1700" lang="en-US"/>
          </a:p>
        </p:txBody>
      </p:sp>
      <p:pic>
        <p:nvPicPr>
          <p:cNvPr id="2097176" name="Image 3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11510129" y="2479238"/>
            <a:ext cx="541615" cy="541615"/>
          </a:xfrm>
          <a:prstGeom prst="rect"/>
        </p:spPr>
      </p:pic>
      <p:sp>
        <p:nvSpPr>
          <p:cNvPr id="1048707" name="Text 5"/>
          <p:cNvSpPr/>
          <p:nvPr/>
        </p:nvSpPr>
        <p:spPr>
          <a:xfrm>
            <a:off x="11510129" y="3237428"/>
            <a:ext cx="2361962" cy="35623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Check Space</a:t>
            </a:r>
            <a:endParaRPr dirty="0" sz="2200" lang="en-US"/>
          </a:p>
        </p:txBody>
      </p:sp>
      <p:sp>
        <p:nvSpPr>
          <p:cNvPr id="1048708" name="Text 6"/>
          <p:cNvSpPr/>
          <p:nvPr/>
        </p:nvSpPr>
        <p:spPr>
          <a:xfrm>
            <a:off x="11510129" y="3723561"/>
            <a:ext cx="2361962" cy="6934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Option 3 displays available spots.</a:t>
            </a:r>
            <a:endParaRPr dirty="0" sz="1700" lang="en-US"/>
          </a:p>
        </p:txBody>
      </p:sp>
      <p:pic>
        <p:nvPicPr>
          <p:cNvPr id="2097177" name="Image 4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6244709" y="4850249"/>
            <a:ext cx="541615" cy="541615"/>
          </a:xfrm>
          <a:prstGeom prst="rect"/>
        </p:spPr>
      </p:pic>
      <p:sp>
        <p:nvSpPr>
          <p:cNvPr id="1048709" name="Text 7"/>
          <p:cNvSpPr/>
          <p:nvPr/>
        </p:nvSpPr>
        <p:spPr>
          <a:xfrm>
            <a:off x="6244709" y="5608439"/>
            <a:ext cx="2361962" cy="35623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Display Vehicles</a:t>
            </a:r>
            <a:endParaRPr dirty="0" sz="2200" lang="en-US"/>
          </a:p>
        </p:txBody>
      </p:sp>
      <p:sp>
        <p:nvSpPr>
          <p:cNvPr id="1048710" name="Text 8"/>
          <p:cNvSpPr/>
          <p:nvPr/>
        </p:nvSpPr>
        <p:spPr>
          <a:xfrm>
            <a:off x="6244709" y="6094571"/>
            <a:ext cx="2361962" cy="6934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Option 4 lists all parked vehicles.</a:t>
            </a:r>
            <a:endParaRPr dirty="0" sz="1700"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67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79" name="Image 0" descr="preencoded.png"/>
          <p:cNvPicPr>
            <a:picLocks noChangeAspect="1"/>
          </p:cNvPicPr>
          <p:nvPr/>
        </p:nvPicPr>
        <p:blipFill>
          <a:blip xmlns:r="http://schemas.openxmlformats.org/officeDocument/2006/relationships" r:embed="rId1"/>
          <a:stretch>
            <a:fillRect/>
          </a:stretch>
        </p:blipFill>
        <p:spPr>
          <a:xfrm>
            <a:off x="0" y="0"/>
            <a:ext cx="5486400" cy="8229600"/>
          </a:xfrm>
          <a:prstGeom prst="rect"/>
        </p:spPr>
      </p:pic>
      <p:sp>
        <p:nvSpPr>
          <p:cNvPr id="1048716" name="Text 0"/>
          <p:cNvSpPr/>
          <p:nvPr/>
        </p:nvSpPr>
        <p:spPr>
          <a:xfrm>
            <a:off x="6244709" y="1590913"/>
            <a:ext cx="7627382" cy="1425416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5600"/>
              </a:lnSpc>
              <a:buNone/>
            </a:pPr>
            <a:r>
              <a:rPr dirty="0" sz="4450" lang="en-US">
                <a:solidFill>
                  <a:srgbClr val="1F1E1E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Summary and Key Takeaways</a:t>
            </a:r>
            <a:endParaRPr dirty="0" sz="4450" lang="en-US"/>
          </a:p>
        </p:txBody>
      </p:sp>
      <p:sp>
        <p:nvSpPr>
          <p:cNvPr id="1048717" name="Shape 1"/>
          <p:cNvSpPr/>
          <p:nvPr/>
        </p:nvSpPr>
        <p:spPr>
          <a:xfrm>
            <a:off x="6244709" y="3341251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48718" name="Text 2"/>
          <p:cNvSpPr/>
          <p:nvPr/>
        </p:nvSpPr>
        <p:spPr>
          <a:xfrm>
            <a:off x="6948726" y="3415665"/>
            <a:ext cx="2974300" cy="71247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Queue-based Parking</a:t>
            </a:r>
            <a:endParaRPr dirty="0" sz="2200" lang="en-US"/>
          </a:p>
        </p:txBody>
      </p:sp>
      <p:sp>
        <p:nvSpPr>
          <p:cNvPr id="1048719" name="Text 3"/>
          <p:cNvSpPr/>
          <p:nvPr/>
        </p:nvSpPr>
        <p:spPr>
          <a:xfrm>
            <a:off x="6948726" y="4258032"/>
            <a:ext cx="2974300" cy="69342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Front and rear indices manage vehicles FIFO style.</a:t>
            </a:r>
            <a:endParaRPr dirty="0" sz="1700" lang="en-US"/>
          </a:p>
        </p:txBody>
      </p:sp>
      <p:sp>
        <p:nvSpPr>
          <p:cNvPr id="1048720" name="Shape 4"/>
          <p:cNvSpPr/>
          <p:nvPr/>
        </p:nvSpPr>
        <p:spPr>
          <a:xfrm>
            <a:off x="10193774" y="3341251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48721" name="Text 5"/>
          <p:cNvSpPr/>
          <p:nvPr/>
        </p:nvSpPr>
        <p:spPr>
          <a:xfrm>
            <a:off x="10897791" y="3415665"/>
            <a:ext cx="2974300" cy="71247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Capacity Enforcement</a:t>
            </a:r>
            <a:endParaRPr dirty="0" sz="2200" lang="en-US"/>
          </a:p>
        </p:txBody>
      </p:sp>
      <p:sp>
        <p:nvSpPr>
          <p:cNvPr id="1048722" name="Text 6"/>
          <p:cNvSpPr/>
          <p:nvPr/>
        </p:nvSpPr>
        <p:spPr>
          <a:xfrm>
            <a:off x="10897791" y="4258032"/>
            <a:ext cx="2974300" cy="1040130"/>
          </a:xfrm>
          <a:prstGeom prst="rect"/>
          <a:noFill/>
        </p:spPr>
        <p:txBody>
          <a:bodyPr anchor="t" bIns="0" lIns="0" rIns="0" rtlCol="0" tIns="0" wrap="squar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Checks prevent parking when full or removing when empty.</a:t>
            </a:r>
            <a:endParaRPr dirty="0" sz="1700" lang="en-US"/>
          </a:p>
        </p:txBody>
      </p:sp>
      <p:sp>
        <p:nvSpPr>
          <p:cNvPr id="1048723" name="Shape 7"/>
          <p:cNvSpPr/>
          <p:nvPr/>
        </p:nvSpPr>
        <p:spPr>
          <a:xfrm>
            <a:off x="6244709" y="5731431"/>
            <a:ext cx="487442" cy="487442"/>
          </a:xfrm>
          <a:prstGeom prst="roundRect">
            <a:avLst>
              <a:gd name="adj" fmla="val 18669"/>
            </a:avLst>
          </a:prstGeom>
          <a:solidFill>
            <a:srgbClr val="D5DCF6"/>
          </a:solidFill>
          <a:ln w="7620">
            <a:solidFill>
              <a:srgbClr val="BBC2DC"/>
            </a:solidFill>
            <a:prstDash val="solid"/>
          </a:ln>
        </p:spPr>
      </p:sp>
      <p:sp>
        <p:nvSpPr>
          <p:cNvPr id="1048724" name="Text 8"/>
          <p:cNvSpPr/>
          <p:nvPr/>
        </p:nvSpPr>
        <p:spPr>
          <a:xfrm>
            <a:off x="6948726" y="5805845"/>
            <a:ext cx="3664506" cy="356235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800"/>
              </a:lnSpc>
              <a:buNone/>
            </a:pPr>
            <a:r>
              <a:rPr dirty="0" sz="2200" lang="en-US">
                <a:solidFill>
                  <a:srgbClr val="3B3535"/>
                </a:solidFill>
                <a:latin typeface="Alexandria Semi Bold" pitchFamily="34" charset="0"/>
                <a:ea typeface="Alexandria Semi Bold" pitchFamily="34" charset="-122"/>
                <a:cs typeface="Alexandria Semi Bold" pitchFamily="34" charset="-120"/>
              </a:rPr>
              <a:t>Interactive Console Menu</a:t>
            </a:r>
            <a:endParaRPr dirty="0" sz="2200" lang="en-US"/>
          </a:p>
        </p:txBody>
      </p:sp>
      <p:sp>
        <p:nvSpPr>
          <p:cNvPr id="1048725" name="Text 9"/>
          <p:cNvSpPr/>
          <p:nvPr/>
        </p:nvSpPr>
        <p:spPr>
          <a:xfrm>
            <a:off x="6948726" y="6291977"/>
            <a:ext cx="6923365" cy="346710"/>
          </a:xfrm>
          <a:prstGeom prst="rect"/>
          <a:noFill/>
        </p:spPr>
        <p:txBody>
          <a:bodyPr anchor="t" bIns="0" lIns="0" rIns="0" rtlCol="0" tIns="0" wrap="none"/>
          <a:p>
            <a:pPr algn="l" indent="0" marL="0">
              <a:lnSpc>
                <a:spcPts val="2700"/>
              </a:lnSpc>
              <a:buNone/>
            </a:pPr>
            <a:r>
              <a:rPr dirty="0" sz="1700" lang="en-US">
                <a:solidFill>
                  <a:srgbClr val="3B3535"/>
                </a:solidFill>
                <a:latin typeface="Sora Light" pitchFamily="34" charset="0"/>
                <a:ea typeface="Sora Light" pitchFamily="34" charset="-122"/>
                <a:cs typeface="Sora Light" pitchFamily="34" charset="-120"/>
              </a:rPr>
              <a:t>User inputs control parking operations efficiently.</a:t>
            </a:r>
            <a:endParaRPr dirty="0" sz="1700"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lastClr="000000" val="windowText"/>
      </a:dk1>
      <a:lt1>
        <a:sysClr lastClr="FFFFFF" val="window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algn="ctr" blurRad="57150" dir="5400000" dist="19050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Properties xmlns="http://schemas.openxmlformats.org/officeDocument/2006/extended-properties">
  <Application>Microsoft Office PowerPoint</Application>
  <ScaleCrop>0</ScaleCrop>
  <Company>PptxGenJS</Company>
  <LinksUpToDate>0</LinksUpToDate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PptxGenJS Presentation</dc:title>
  <dc:creator>PptxGenJS</dc:creator>
  <cp:lastModifiedBy>Kuladeepak Annala</cp:lastModifiedBy>
  <dcterms:created xsi:type="dcterms:W3CDTF">2025-04-30T05:23:23Z</dcterms:created>
  <dcterms:modified xsi:type="dcterms:W3CDTF">2025-05-01T04:18:23Z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c2ca19df21164b5f8634d1c209f5929d</vt:lpwstr>
  </property>
</Properties>
</file>